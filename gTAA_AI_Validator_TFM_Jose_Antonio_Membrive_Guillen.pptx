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notesSlide" Target="../notesSlides/notesSlide2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9" Type="http://schemas.openxmlformats.org/officeDocument/2006/relationships/image" Target="../media/image2.png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8.png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4D68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88395">
              <a:alpha val="70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gTAA AI Validator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5B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Híbrido de IA para Validación Automática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5B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Arquitectura de Test Automation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749040"/>
            <a:ext cx="2743200" cy="0"/>
          </a:xfrm>
          <a:prstGeom prst="line">
            <a:avLst/>
          </a:prstGeom>
          <a:noFill/>
          <a:ln w="25400">
            <a:solidFill>
              <a:srgbClr val="05BF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Antonio Membrive Guillén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Trabajo de Fin de Máster  |  Máster de Desarrollo con IA  |  2025-2026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526280"/>
            <a:ext cx="6971665" cy="437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Nota: El código fuente utiliza nomenclatura en inglés (estándar en desarrollo de software), mientras que la documentación y comentarios están en español al tratarse de un TFM cursado en castellano.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n-US" sz="3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Indice</a:t>
            </a:r>
            <a:endParaRPr lang="es-ES" altLang="en-US" sz="3600" b="1" dirty="0">
              <a:solidFill>
                <a:srgbClr val="0F2B46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640080" y="1371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188720" y="135331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Problema y Motivacion</a:t>
            </a:r>
            <a:endParaRPr lang="en-US" sz="14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188720" y="157276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reto en test automation</a:t>
            </a:r>
            <a:endParaRPr lang="en-US" sz="1000" dirty="0"/>
          </a:p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640080" y="1874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1188720" y="18562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Solución: gTAA AI Validator</a:t>
            </a:r>
            <a:endParaRPr lang="en-US" sz="1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188720" y="207568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híbrido de análisis</a:t>
            </a:r>
            <a:endParaRPr lang="en-US" sz="1000" dirty="0"/>
          </a:p>
        </p:txBody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640080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1188720" y="235915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Arquitectura y Stack Tecnológico</a:t>
            </a:r>
            <a:endParaRPr lang="en-US" sz="140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1188720" y="257860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Componentes y tecnologías</a:t>
            </a:r>
            <a:endParaRPr lang="en-US" sz="1000" dirty="0"/>
          </a:p>
        </p:txBody>
      </p:sp>
      <p:sp>
        <p:nvSpPr>
          <p:cNvPr id="15" name="Shape 13"/>
          <p:cNvSpPr/>
          <p:nvPr>
            <p:custDataLst>
              <p:tags r:id="rId13"/>
            </p:custDataLst>
          </p:nvPr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640080" y="28803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1188720" y="286207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Funcionalidades Principales</a:t>
            </a:r>
            <a:endParaRPr lang="en-US" sz="1400" dirty="0"/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1188720" y="3081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 violaciones, 4 lenguajes, reportes</a:t>
            </a:r>
            <a:endParaRPr lang="en-US" sz="1000" dirty="0"/>
          </a:p>
        </p:txBody>
      </p:sp>
      <p:sp>
        <p:nvSpPr>
          <p:cNvPr id="19" name="Shape 17"/>
          <p:cNvSpPr/>
          <p:nvPr>
            <p:custDataLst>
              <p:tags r:id="rId17"/>
            </p:custDataLst>
          </p:nvPr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20" name="Text 18"/>
          <p:cNvSpPr/>
          <p:nvPr>
            <p:custDataLst>
              <p:tags r:id="rId18"/>
            </p:custDataLst>
          </p:nvPr>
        </p:nvSpPr>
        <p:spPr>
          <a:xfrm>
            <a:off x="640080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>
            <p:custDataLst>
              <p:tags r:id="rId19"/>
            </p:custDataLst>
          </p:nvPr>
        </p:nvSpPr>
        <p:spPr>
          <a:xfrm>
            <a:off x="1188720" y="336499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Metodología y Calidad</a:t>
            </a:r>
            <a:endParaRPr lang="en-US" sz="1400" dirty="0"/>
          </a:p>
        </p:txBody>
      </p:sp>
      <p:sp>
        <p:nvSpPr>
          <p:cNvPr id="22" name="Text 20"/>
          <p:cNvSpPr/>
          <p:nvPr>
            <p:custDataLst>
              <p:tags r:id="rId20"/>
            </p:custDataLst>
          </p:nvPr>
        </p:nvSpPr>
        <p:spPr>
          <a:xfrm>
            <a:off x="1188720" y="358444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fases, 761 tests, 93% cobertura</a:t>
            </a:r>
            <a:endParaRPr lang="en-US" sz="1000" dirty="0"/>
          </a:p>
        </p:txBody>
      </p:sp>
      <p:sp>
        <p:nvSpPr>
          <p:cNvPr id="23" name="Shape 21"/>
          <p:cNvSpPr/>
          <p:nvPr>
            <p:custDataLst>
              <p:tags r:id="rId21"/>
            </p:custDataLst>
          </p:nvPr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24" name="Text 22"/>
          <p:cNvSpPr/>
          <p:nvPr>
            <p:custDataLst>
              <p:tags r:id="rId22"/>
            </p:custDataLst>
          </p:nvPr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>
            <p:custDataLst>
              <p:tags r:id="rId23"/>
            </p:custDataLst>
          </p:nvPr>
        </p:nvSpPr>
        <p:spPr>
          <a:xfrm>
            <a:off x="1188720" y="386791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Despliegue y CI/CD</a:t>
            </a:r>
            <a:endParaRPr lang="en-US" sz="1400" dirty="0"/>
          </a:p>
        </p:txBody>
      </p:sp>
      <p:sp>
        <p:nvSpPr>
          <p:cNvPr id="26" name="Text 24"/>
          <p:cNvSpPr/>
          <p:nvPr>
            <p:custDataLst>
              <p:tags r:id="rId24"/>
            </p:custDataLst>
          </p:nvPr>
        </p:nvSpPr>
        <p:spPr>
          <a:xfrm>
            <a:off x="1188720" y="408736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Docker, GitHub Actions</a:t>
            </a:r>
            <a:endParaRPr lang="en-US" sz="1000" dirty="0"/>
          </a:p>
        </p:txBody>
      </p:sp>
      <p:sp>
        <p:nvSpPr>
          <p:cNvPr id="27" name="Shape 25"/>
          <p:cNvSpPr/>
          <p:nvPr>
            <p:custDataLst>
              <p:tags r:id="rId25"/>
            </p:custDataLst>
          </p:nvPr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28" name="Text 26"/>
          <p:cNvSpPr/>
          <p:nvPr>
            <p:custDataLst>
              <p:tags r:id="rId26"/>
            </p:custDataLst>
          </p:nvPr>
        </p:nvSpPr>
        <p:spPr>
          <a:xfrm>
            <a:off x="640080" y="4389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>
            <p:custDataLst>
              <p:tags r:id="rId27"/>
            </p:custDataLst>
          </p:nvPr>
        </p:nvSpPr>
        <p:spPr>
          <a:xfrm>
            <a:off x="1188720" y="43708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30" name="Text 28"/>
          <p:cNvSpPr/>
          <p:nvPr>
            <p:custDataLst>
              <p:tags r:id="rId28"/>
            </p:custDataLst>
          </p:nvPr>
        </p:nvSpPr>
        <p:spPr>
          <a:xfrm>
            <a:off x="1188720" y="459028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Resultados y trabajo futuro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1371600"/>
            <a:ext cx="2926080" cy="3200400"/>
          </a:xfrm>
          <a:prstGeom prst="rect">
            <a:avLst/>
          </a:prstGeom>
          <a:solidFill>
            <a:srgbClr val="0F2B46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49440" y="1737360"/>
            <a:ext cx="731520" cy="7315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gTAA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126480" y="301752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5B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Generic Test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5B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5B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126480" y="40233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ISTQB CT-TAE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ausencia de arquitectura en test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1280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" cy="128016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Código acoplado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201168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interactúan directamente con Selenium/Playwright sin capa de abstracción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749040" cy="1280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54480"/>
            <a:ext cx="54864" cy="128016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69164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Objects contaminados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32120" y="201168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Aserciones, lógica de negocio e imports de frameworks de test en POM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108960"/>
            <a:ext cx="3749040" cy="1280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108960"/>
            <a:ext cx="54864" cy="128016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37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461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Datos hardcodeados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17320" y="356616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Credenciales, URLs y datos de prueba directamente en los scripts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3108960"/>
            <a:ext cx="3749040" cy="1280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108960"/>
            <a:ext cx="54864" cy="128016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37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2461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 estructura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32120" y="356616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con nombres genéricos, funciones de cientos de líneas, localizadores duplicados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0F2B46"/>
          </a:solidFill>
        </p:spPr>
      </p:sp>
      <p:sp>
        <p:nvSpPr>
          <p:cNvPr id="25" name="Text 19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existe ninguna herramienta que valide automáticamente si un proyecto cumple con gTAA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A4D68">
              <a:alpha val="6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 Solución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5B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híbrido de análisis estático + semántico con 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749040" cy="3017520"/>
          </a:xfrm>
          <a:prstGeom prst="rect">
            <a:avLst/>
          </a:prstGeom>
          <a:solidFill>
            <a:srgbClr val="0A4D68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7830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231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Análisis Estático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288036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 (Abstract Syntax Tree)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matching con Regex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tree-sitter (multilenguaje)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tipos de violaciones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checkers especializados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749040" cy="3017520"/>
          </a:xfrm>
          <a:prstGeom prst="rect">
            <a:avLst/>
          </a:prstGeom>
          <a:solidFill>
            <a:srgbClr val="088395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30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24231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Análisis Semántico IA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212080" y="288036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 Flash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optimizado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Fallback automático a mock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tipos de violaciones semánticas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Sugerencias contextuales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0" y="4709160"/>
            <a:ext cx="4572000" cy="320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Text 10"/>
          <p:cNvSpPr/>
          <p:nvPr/>
        </p:nvSpPr>
        <p:spPr>
          <a:xfrm>
            <a:off x="2286000" y="47091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 violaciones detectadas  =  17 estáticas + 6 semánticas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Arquitectura gTAA (ISTQB CT-TAE)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572000" cy="685800"/>
          </a:xfrm>
          <a:prstGeom prst="rect">
            <a:avLst/>
          </a:prstGeom>
          <a:solidFill>
            <a:srgbClr val="05BFDB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7899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Generation 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39903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4D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Diseño de casos de test (manual o automatizado)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4572000" cy="685800"/>
          </a:xfrm>
          <a:prstGeom prst="rect">
            <a:avLst/>
          </a:prstGeom>
          <a:solidFill>
            <a:srgbClr val="088395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0195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Definition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Tests, suites, datos de prueba, test library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4572000" cy="685800"/>
          </a:xfrm>
          <a:prstGeom prst="rect">
            <a:avLst/>
          </a:prstGeom>
          <a:solidFill>
            <a:srgbClr val="0A4D68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72491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Execution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044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B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Runner, fixtures, setup/teardown, logging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4572000" cy="685800"/>
          </a:xfrm>
          <a:prstGeom prst="rect">
            <a:avLst/>
          </a:prstGeom>
          <a:solidFill>
            <a:srgbClr val="0F2B46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54787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Adaptation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8679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B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Objects, APIs, adaptadores al SUT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2514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3375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4389120"/>
            <a:ext cx="2926080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371600" y="43891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SUT (System Under Test)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41605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051560"/>
            <a:ext cx="3200400" cy="3154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28016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852160" y="18288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Principio Fundamental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943600" y="2240280"/>
            <a:ext cx="26517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capa tiene una responsabilidad única. Los tests no deben interactuar con el navegador. Los Page Objects no deben contener aserciones ni lógica de negocio.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Stack Tecnológico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33172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1732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173736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Lenguaje principal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46120" y="1280160"/>
            <a:ext cx="233172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087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77640" y="141732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 + tree-sitter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977640" y="173736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Análisis de código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52160" y="1280160"/>
            <a:ext cx="233172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087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141732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Flash API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583680" y="173736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para semántica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40080" y="2560320"/>
            <a:ext cx="233172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7889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26974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CLI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371600" y="301752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Interfaz de línea de comandos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46120" y="2560320"/>
            <a:ext cx="233172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78892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77640" y="26974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977640" y="301752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Contenerización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852160" y="2560320"/>
            <a:ext cx="233172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78892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83680" y="26974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583680" y="301752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 pipeline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40080" y="3794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Librerías clave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40080" y="4160520"/>
            <a:ext cx="7863840" cy="822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822960" y="42062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click &gt;= 8.0 (CLI)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3429000" y="42062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google-genai &gt;= 1.0 (SDK Gemini)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6035040" y="42062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tree-sitter-language-pack (Java, JS/TS)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822960" y="45537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tree-sitter-c-sharp (C#)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3429000" y="45537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PyYAML &gt;= 6.0 (Configuración)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6035040" y="45537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pytest &gt;= 7.0 (Testing)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23 Tipos de Violaciones gTAA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74520" cy="822960"/>
          </a:xfrm>
          <a:prstGeom prst="rect">
            <a:avLst/>
          </a:prstGeom>
          <a:solidFill>
            <a:srgbClr val="088395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1005840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88920" y="1005840"/>
            <a:ext cx="1874520" cy="822960"/>
          </a:xfrm>
          <a:prstGeom prst="rect">
            <a:avLst/>
          </a:prstGeom>
          <a:solidFill>
            <a:srgbClr val="0A4D68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88920" y="10058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0" y="1005840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Estaticas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1874520" cy="822960"/>
          </a:xfrm>
          <a:prstGeom prst="rect">
            <a:avLst/>
          </a:prstGeom>
          <a:solidFill>
            <a:srgbClr val="0F2B46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058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623560" y="1005840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1005840"/>
            <a:ext cx="1874520" cy="822960"/>
          </a:xfrm>
          <a:prstGeom prst="rect">
            <a:avLst/>
          </a:prstGeom>
          <a:solidFill>
            <a:srgbClr val="F59E0B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86600" y="10058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772400" y="1005840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2011680"/>
          <a:ext cx="8229600" cy="2816352"/>
        </p:xfrm>
        <a:graphic>
          <a:graphicData uri="http://schemas.openxmlformats.org/drawingml/2006/table">
            <a:tbl>
              <a:tblPr/>
              <a:tblGrid>
                <a:gridCol w="1005840"/>
                <a:gridCol w="2926080"/>
                <a:gridCol w="2103120"/>
                <a:gridCol w="146304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Severidad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Tipo de Violación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Checker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Técnica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CRITICA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ADAPTATION_IN_DEFINITION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DefinitionChecker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AST Visitor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CRITICA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MISSING_LAYER_STRUCTURE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StructureChecker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Filesystem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CRITICA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STEP_DEF_DIRECT_BROWSER_CALL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BDDChecker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AST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ALTA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HARDCODED_TEST_DATA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QualityChecker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AST + Regex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ALTA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ASSERTION_IN_POM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AdaptationChecker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AST Visitor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ALTA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IMPLICIT_TEST_DEPENDENCY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Gemini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BUSINESS_LOGIC_IN_POM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AdaptationChecker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AST Visitor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MISSING_AAA_STRUCTURE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Gemini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MIXED_ABSTRACTION_LEVEL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Gemini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BAJA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POOR_TEST_NAMING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QualityChecker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AST + Regex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4754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+ 13 tipos adicionales  (ver documentación completa)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Soporte Multilenguaje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Arquitectura language-agnostic con ParseResult unificado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945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Parser: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839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ast (stdlib)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Frameworks: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Selenium, Playwright,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pytest, unittest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06040" y="1463040"/>
            <a:ext cx="192024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45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1945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Java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788920" y="26060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Parser: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788920" y="278892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839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tree-sitter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788920" y="30632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Frameworks: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788920" y="3246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Selenium, Playwright,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TestNG, JUnit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54880" y="1463040"/>
            <a:ext cx="192024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45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945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JS / TS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937760" y="26060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Parser: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937760" y="278892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839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tree-sitter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37760" y="30632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Frameworks: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937760" y="3246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Playwright, Cypress,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WebdriverIO, Jest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903720" y="1463040"/>
            <a:ext cx="192024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4592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21945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C#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086600" y="26060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Parser: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086600" y="278892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839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tree-sitter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086600" y="30632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Frameworks: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086600" y="3246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Selenium, Playwright,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NUnit, xUnit, MSTest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40080" y="4114800"/>
            <a:ext cx="7863840" cy="777240"/>
          </a:xfrm>
          <a:prstGeom prst="rect">
            <a:avLst/>
          </a:prstGeom>
          <a:solidFill>
            <a:srgbClr val="0F2B46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5196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63040" y="416052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mismo DefinitionChecker detecta driver.findElement() (Java), cy.get() (JS)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driver.FindElement() (C#) gracias a ParseResult como contrato común.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Reportes y Puntuación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931920" cy="2560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716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Sistema de Puntuación (0-100)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822960" y="1920240"/>
          <a:ext cx="3474720" cy="13716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Severidad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Penalizacion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CRITICA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-10 pts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ALTA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-5 pts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-2 pts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BAJA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-1 pt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46320" y="1188720"/>
            <a:ext cx="3840480" cy="2560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77840" y="13716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Formatos de Reporte</a:t>
            </a:r>
            <a:endParaRPr lang="en-US" sz="1400" dirty="0"/>
          </a:p>
        </p:txBody>
      </p:sp>
      <p:sp>
        <p:nvSpPr>
          <p:cNvPr id="6" name="Text 5"/>
          <p:cNvSpPr/>
          <p:nvPr/>
        </p:nvSpPr>
        <p:spPr>
          <a:xfrm>
            <a:off x="5120640" y="19202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83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Dashboard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120640" y="219456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gauge SVG, gráficos de distribución,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tablas agrupadas por checker, accesibilidad ARIA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120640" y="27889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83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Estructurado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120640" y="30175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Formato compatible con CI/CD, metadata,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y violaciones detalladas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40080" y="3977640"/>
            <a:ext cx="8046720" cy="548640"/>
          </a:xfrm>
          <a:prstGeom prst="rect">
            <a:avLst/>
          </a:prstGeom>
          <a:solidFill>
            <a:srgbClr val="0F2B46"/>
          </a:solidFill>
        </p:spPr>
      </p:sp>
      <p:sp>
        <p:nvSpPr>
          <p:cNvPr id="15" name="Text 10"/>
          <p:cNvSpPr/>
          <p:nvPr/>
        </p:nvSpPr>
        <p:spPr>
          <a:xfrm>
            <a:off x="822960" y="397764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BF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Auto-generación estilo Allure: gtaa-reports/gtaa_report_{proyecto}_{fecha}.json/.html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Metodología: Desarrollo Incremental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fases de desarrollo  |  1</a:t>
            </a:r>
            <a:r>
              <a:rPr lang="es-ES" alt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commits  |  60 ADRs documentados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0876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508760"/>
            <a:ext cx="457200" cy="45720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6" name="Text 4"/>
          <p:cNvSpPr/>
          <p:nvPr/>
        </p:nvSpPr>
        <p:spPr>
          <a:xfrm>
            <a:off x="960120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 básico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26/01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371600"/>
            <a:ext cx="150876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508760"/>
            <a:ext cx="457200" cy="45720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11" name="Text 9"/>
          <p:cNvSpPr/>
          <p:nvPr/>
        </p:nvSpPr>
        <p:spPr>
          <a:xfrm>
            <a:off x="2651760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40280" y="205740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 (1 violación)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23957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26/01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371600"/>
            <a:ext cx="150876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508760"/>
            <a:ext cx="457200" cy="45720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16" name="Text 14"/>
          <p:cNvSpPr/>
          <p:nvPr/>
        </p:nvSpPr>
        <p:spPr>
          <a:xfrm>
            <a:off x="4343400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05740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violaciones + Tests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23957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28/01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32120" y="1371600"/>
            <a:ext cx="150876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508760"/>
            <a:ext cx="457200" cy="45720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21" name="Text 19"/>
          <p:cNvSpPr/>
          <p:nvPr/>
        </p:nvSpPr>
        <p:spPr>
          <a:xfrm>
            <a:off x="6035040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205740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Reportes HTML/JSON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23957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31/01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1371600"/>
            <a:ext cx="150876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0" y="1508760"/>
            <a:ext cx="457200" cy="45720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26" name="Text 24"/>
          <p:cNvSpPr/>
          <p:nvPr/>
        </p:nvSpPr>
        <p:spPr>
          <a:xfrm>
            <a:off x="7726680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205740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Análisis AI (Gemini)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23957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01/02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150876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" y="3246120"/>
            <a:ext cx="457200" cy="45720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31" name="Text 29"/>
          <p:cNvSpPr/>
          <p:nvPr/>
        </p:nvSpPr>
        <p:spPr>
          <a:xfrm>
            <a:off x="96012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379476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violaciones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13308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01/02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48840" y="3108960"/>
            <a:ext cx="150876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651760" y="3246120"/>
            <a:ext cx="457200" cy="45720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36" name="Text 34"/>
          <p:cNvSpPr/>
          <p:nvPr/>
        </p:nvSpPr>
        <p:spPr>
          <a:xfrm>
            <a:off x="265176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240280" y="379476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Proyectos mixtos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40280" y="413308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02/02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40480" y="3108960"/>
            <a:ext cx="150876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43400" y="3246120"/>
            <a:ext cx="457200" cy="45720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41" name="Text 39"/>
          <p:cNvSpPr/>
          <p:nvPr/>
        </p:nvSpPr>
        <p:spPr>
          <a:xfrm>
            <a:off x="434340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931920" y="379476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Soporte BDD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931920" y="413308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03/02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32120" y="3108960"/>
            <a:ext cx="150876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246120"/>
            <a:ext cx="457200" cy="457200"/>
          </a:xfrm>
          <a:prstGeom prst="ellipse">
            <a:avLst/>
          </a:prstGeom>
          <a:solidFill>
            <a:srgbClr val="088395"/>
          </a:solidFill>
        </p:spPr>
      </p:sp>
      <p:sp>
        <p:nvSpPr>
          <p:cNvPr id="46" name="Text 44"/>
          <p:cNvSpPr/>
          <p:nvPr/>
        </p:nvSpPr>
        <p:spPr>
          <a:xfrm>
            <a:off x="603504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623560" y="379476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Multilenguaje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23560" y="413308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04/02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23760" y="3108960"/>
            <a:ext cx="150876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726680" y="3246120"/>
            <a:ext cx="457200" cy="4572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51" name="Text 49"/>
          <p:cNvSpPr/>
          <p:nvPr/>
        </p:nvSpPr>
        <p:spPr>
          <a:xfrm>
            <a:off x="772668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315200" y="379476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Optimización final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15200" y="413308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05-08/02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A4D68">
              <a:alpha val="6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Testing y Calidad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280160"/>
            <a:ext cx="2560320" cy="1645920"/>
          </a:xfrm>
          <a:prstGeom prst="rect">
            <a:avLst/>
          </a:prstGeom>
          <a:solidFill>
            <a:srgbClr val="0A4D68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640080" y="137160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5BFD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761</a:t>
            </a:r>
            <a:endParaRPr lang="en-US" sz="40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40080" y="21031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</a:t>
            </a:r>
            <a:endParaRPr lang="en-US" sz="14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640080" y="24231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Unitarios + Integración + Seguridad</a:t>
            </a:r>
            <a:endParaRPr lang="en-US" sz="10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3474720" y="1280160"/>
            <a:ext cx="2560320" cy="1645920"/>
          </a:xfrm>
          <a:prstGeom prst="rect">
            <a:avLst/>
          </a:prstGeom>
          <a:solidFill>
            <a:srgbClr val="0A4D68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3474720" y="137160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5BFD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93%</a:t>
            </a:r>
            <a:endParaRPr lang="en-US" sz="40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3474720" y="21031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Cobertura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3474720" y="24231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 90% superado</a:t>
            </a:r>
            <a:endParaRPr lang="en-US" sz="10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6309360" y="1280160"/>
            <a:ext cx="2560320" cy="1645920"/>
          </a:xfrm>
          <a:prstGeom prst="rect">
            <a:avLst/>
          </a:prstGeom>
          <a:solidFill>
            <a:srgbClr val="0A4D68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6309360" y="137160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n-US" sz="4000" b="1" dirty="0">
                <a:solidFill>
                  <a:srgbClr val="05BFD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46</a:t>
            </a:r>
            <a:endParaRPr lang="en-US" sz="40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6309360" y="21031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de Seguridad</a:t>
            </a:r>
            <a:endParaRPr lang="en-US" sz="14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6309360" y="24231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SEC-01 a SEC-09 (OWASP)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Prácticas de Calidad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3749040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749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Auditoría QA white-box completa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0" y="374904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74920" y="3749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de regresión de seguridad (OWASP)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096512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0120" y="40965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Protección XSS en reportes HTML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0" y="4096512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74920" y="40965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 ADRs (Architecture Decision Records)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443984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0120" y="444398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Auditoría de documentación (28 hallazgos)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0" y="4443984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74920" y="444398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 con matrix Python 3.10/3.11/3.12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Despliegue y CI/CD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926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0116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CLI Local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48716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 install -e '.[all]'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89864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-m gtaa_validator ./proyecto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37560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331012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Flags: --ai, --verbose, --html, --json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3246120" y="1188720"/>
            <a:ext cx="2606040" cy="2926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17320"/>
            <a:ext cx="502920" cy="5029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383280" y="20116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Docker</a:t>
            </a:r>
            <a:endParaRPr lang="en-US" sz="16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51460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703320" y="248716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build -t gtaa-validator .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926080"/>
            <a:ext cx="182880" cy="1828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703320" y="289864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Imagen multistage (~150MB)</a:t>
            </a:r>
            <a:endParaRPr lang="en-US" sz="10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337560"/>
            <a:ext cx="182880" cy="1828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703320" y="331012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run -v ./proyecto:/project</a:t>
            </a:r>
            <a:endParaRPr lang="en-US" sz="1000" dirty="0"/>
          </a:p>
        </p:txBody>
      </p:sp>
      <p:sp>
        <p:nvSpPr>
          <p:cNvPr id="21" name="Shape 11"/>
          <p:cNvSpPr/>
          <p:nvPr/>
        </p:nvSpPr>
        <p:spPr>
          <a:xfrm>
            <a:off x="6035040" y="1188720"/>
            <a:ext cx="2606040" cy="2926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417320"/>
            <a:ext cx="502920" cy="5029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172200" y="20116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GitHub Action</a:t>
            </a:r>
            <a:endParaRPr lang="en-US" sz="16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14600"/>
            <a:ext cx="182880" cy="1828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492240" y="248716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uses: Membrive92/gtaa-ai-validator@main</a:t>
            </a:r>
            <a:endParaRPr lang="en-US" sz="10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926080"/>
            <a:ext cx="182880" cy="18288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6492240" y="289864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Composite action reutilizable</a:t>
            </a:r>
            <a:endParaRPr lang="en-US" sz="10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337560"/>
            <a:ext cx="182880" cy="18288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6492240" y="331012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Outputs: score, violations, reportes</a:t>
            </a:r>
            <a:endParaRPr lang="en-US" sz="1000" dirty="0"/>
          </a:p>
        </p:txBody>
      </p:sp>
      <p:sp>
        <p:nvSpPr>
          <p:cNvPr id="30" name="Shape 16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solidFill>
            <a:srgbClr val="0F2B46"/>
          </a:solidFill>
        </p:spPr>
      </p:sp>
      <p:sp>
        <p:nvSpPr>
          <p:cNvPr id="31" name="Text 17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5BF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github.com/Membrive92/gtaa-ai-validator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Ejemplo de Ejecución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solidFill>
            <a:srgbClr val="1E1E1E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Shape 3"/>
          <p:cNvSpPr/>
          <p:nvPr/>
        </p:nvSpPr>
        <p:spPr>
          <a:xfrm>
            <a:off x="868680" y="1188720"/>
            <a:ext cx="164592" cy="16459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6" name="Shape 4"/>
          <p:cNvSpPr/>
          <p:nvPr/>
        </p:nvSpPr>
        <p:spPr>
          <a:xfrm>
            <a:off x="1097280" y="1188720"/>
            <a:ext cx="164592" cy="16459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" name="Shape 5"/>
          <p:cNvSpPr/>
          <p:nvPr/>
        </p:nvSpPr>
        <p:spPr>
          <a:xfrm>
            <a:off x="1325880" y="1188720"/>
            <a:ext cx="164592" cy="16459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731520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python -m gtaa_validator examples/bad_project --ai --verbose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5BF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 gTAA AI Validator ===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Analizando proyecto: examples/bad_project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Ejecutando análisis estático...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Usando Gemini Flash API para análisis semántico...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Archivos analizados: </a:t>
            </a:r>
            <a:r>
              <a:rPr lang="es-ES" alt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r>
              <a:rPr 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Violaciones totales: </a:t>
            </a:r>
            <a:r>
              <a:rPr lang="es-ES" altLang="en-US" sz="95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70</a:t>
            </a:r>
            <a:r>
              <a:rPr lang="en-US" sz="95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CRITICA: </a:t>
            </a:r>
            <a:r>
              <a:rPr lang="es-ES" alt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22</a:t>
            </a:r>
            <a:r>
              <a:rPr 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ALTA: </a:t>
            </a:r>
            <a:r>
              <a:rPr lang="es-ES" alt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</a:t>
            </a:r>
            <a:r>
              <a:rPr 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MEDIA: </a:t>
            </a:r>
            <a:r>
              <a:rPr lang="es-ES" alt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r>
              <a:rPr 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BAJA: </a:t>
            </a:r>
            <a:r>
              <a:rPr lang="es-ES" alt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r>
              <a:rPr lang="en-US" sz="9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Puntuación de cumplimiento: 0.0/100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Estado: PROBLEMAS CRITICOS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594360"/>
          </a:xfrm>
          <a:prstGeom prst="rect">
            <a:avLst/>
          </a:prstGeom>
          <a:solidFill>
            <a:srgbClr val="088395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984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0700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Primera herramienta de validación gTAA automática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148132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existía ninguna herramienta equivalente en el mercado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786384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920240"/>
            <a:ext cx="54864" cy="594360"/>
          </a:xfrm>
          <a:prstGeom prst="rect">
            <a:avLst/>
          </a:prstGeom>
          <a:solidFill>
            <a:srgbClr val="088395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2996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93852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híbrido AST + LLM efectivo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17320" y="22128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Combina precisión del análisis estático con comprensión semántica de la IA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2651760"/>
            <a:ext cx="786384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651760"/>
            <a:ext cx="54864" cy="594360"/>
          </a:xfrm>
          <a:prstGeom prst="rect">
            <a:avLst/>
          </a:prstGeom>
          <a:solidFill>
            <a:srgbClr val="088395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6148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67004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Soporte multilenguaje real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417320" y="294436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Python, Java, JS/TS, C# con arquitectura language-agnostic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" y="3383280"/>
            <a:ext cx="786384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383280"/>
            <a:ext cx="54864" cy="594360"/>
          </a:xfrm>
          <a:prstGeom prst="rect">
            <a:avLst/>
          </a:prstGeom>
          <a:solidFill>
            <a:srgbClr val="088395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9300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40156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Calidad profesional demostrada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417320" y="367588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761 tests, 93% cobertura, auditorías de seguridad y QA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4114800"/>
            <a:ext cx="54864" cy="594360"/>
          </a:xfrm>
          <a:prstGeom prst="rect">
            <a:avLst/>
          </a:prstGeom>
          <a:solidFill>
            <a:srgbClr val="088395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2452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41330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Listo para producción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417320" y="440740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CLI, Docker, GitHub Action, reportes HTML/JSON, CI/CD integrado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A4D68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88395">
              <a:alpha val="70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25400">
            <a:solidFill>
              <a:srgbClr val="05BF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Antonio Membrive Guillén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5B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membri_2@hotmail.com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github.com/Membrive92/gtaa-ai-validator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Máster de Desarrollo con IA  |  2025-2026  |  BIG School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3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4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5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6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7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8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9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10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11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12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13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14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15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16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17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18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19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0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1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2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3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4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5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6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7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8.xml><?xml version="1.0" encoding="utf-8"?>
<p:tagLst xmlns:p="http://schemas.openxmlformats.org/presentationml/2006/main">
  <p:tag name="KSO_WM_DIAGRAM_VIRTUALLY_FRAME" val="{&quot;height&quot;:270.72,&quot;left&quot;:50.4,&quot;top&quot;:106.55999999999999,&quot;width&quot;:403.2}"/>
</p:tagLst>
</file>

<file path=ppt/tags/tag29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30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31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32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33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34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35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36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37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38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39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ags/tag40.xml><?xml version="1.0" encoding="utf-8"?>
<p:tagLst xmlns:p="http://schemas.openxmlformats.org/presentationml/2006/main">
  <p:tag name="KSO_WM_DIAGRAM_VIRTUALLY_FRAME" val="{&quot;height&quot;:129.6,&quot;left&quot;:50.4,&quot;top&quot;:100.8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6282</Words>
  <Application>WPS Presentation</Application>
  <PresentationFormat>On-screen Show (16:9)</PresentationFormat>
  <Paragraphs>549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gTAA AI Validator - TFM</dc:title>
  <dc:creator>José Antonio Membrive Guillén</dc:creator>
  <dc:subject>PptxGenJS Presentation</dc:subject>
  <cp:lastModifiedBy>jose</cp:lastModifiedBy>
  <cp:revision>4</cp:revision>
  <dcterms:created xsi:type="dcterms:W3CDTF">2026-02-11T06:36:00Z</dcterms:created>
  <dcterms:modified xsi:type="dcterms:W3CDTF">2026-02-11T13:20:30Z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4A9C7874D73D4FB4ABF3E9D435FB8018_12</vt:lpwstr>
  </property>
  <property fmtid="{D5CDD505-2E9C-101B-9397-08002B2CF9AE}" pid="3" name="KSOProductBuildVer">
    <vt:lpwstr>3082-12.2.0.23196</vt:lpwstr>
  </property>
</Properties>
</file>