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1" Type="http://schemas.openxmlformats.org/officeDocument/2006/relationships/notesSlide" Target="../notesSlides/notesSlide2.xml"/><Relationship Id="rId30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9" Type="http://schemas.openxmlformats.org/officeDocument/2006/relationships/image" Target="../media/image2.png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5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5" Type="http://schemas.openxmlformats.org/officeDocument/2006/relationships/notesSlide" Target="../notesSlides/notesSlide11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8.png"/><Relationship Id="rId12" Type="http://schemas.openxmlformats.org/officeDocument/2006/relationships/tags" Target="../tags/tag40.xml"/><Relationship Id="rId11" Type="http://schemas.openxmlformats.org/officeDocument/2006/relationships/tags" Target="../tags/tag39.xml"/><Relationship Id="rId10" Type="http://schemas.openxmlformats.org/officeDocument/2006/relationships/tags" Target="../tags/tag38.xml"/><Relationship Id="rId1" Type="http://schemas.openxmlformats.org/officeDocument/2006/relationships/tags" Target="../tags/tag29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0A4D68">
              <a:alpha val="6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3200400"/>
            <a:ext cx="2743200" cy="2743200"/>
          </a:xfrm>
          <a:prstGeom prst="ellipse">
            <a:avLst/>
          </a:prstGeom>
          <a:solidFill>
            <a:srgbClr val="088395">
              <a:alpha val="70000"/>
            </a:srgbClr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55448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gTAA AI Validator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731520" y="265176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Sistema Híbrido de IA para Validación Automática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 Arquitectura de Test Automation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3749040"/>
            <a:ext cx="2743200" cy="0"/>
          </a:xfrm>
          <a:prstGeom prst="line">
            <a:avLst/>
          </a:prstGeom>
          <a:noFill/>
          <a:ln w="25400">
            <a:solidFill>
              <a:srgbClr val="05BF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Antonio Membrive Guillén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41148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Trabajo de Fin de Máster  |  Máster de Desarrollo con IA  |  2025-2026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" y="4526280"/>
            <a:ext cx="6971665" cy="4375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Nota: El código fuente utiliza nomenclatura en inglés (estándar en desarrollo de software), mientras que la documentación y comentarios están en español al tratarse de un TFM cursado en castellano.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" alt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Indice</a:t>
            </a:r>
            <a:endParaRPr lang="es-ES" altLang="en-US" sz="3600" b="1" dirty="0">
              <a:solidFill>
                <a:srgbClr val="0F2B46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640080" y="1371600"/>
            <a:ext cx="365760" cy="36576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4" name="Text 2"/>
          <p:cNvSpPr/>
          <p:nvPr>
            <p:custDataLst>
              <p:tags r:id="rId2"/>
            </p:custDataLst>
          </p:nvPr>
        </p:nvSpPr>
        <p:spPr>
          <a:xfrm>
            <a:off x="640080" y="13716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>
            <p:custDataLst>
              <p:tags r:id="rId3"/>
            </p:custDataLst>
          </p:nvPr>
        </p:nvSpPr>
        <p:spPr>
          <a:xfrm>
            <a:off x="1188720" y="13533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Problema y Motivacion</a:t>
            </a:r>
            <a:endParaRPr lang="en-US" sz="1400" dirty="0"/>
          </a:p>
        </p:txBody>
      </p:sp>
      <p:sp>
        <p:nvSpPr>
          <p:cNvPr id="6" name="Text 4"/>
          <p:cNvSpPr/>
          <p:nvPr>
            <p:custDataLst>
              <p:tags r:id="rId4"/>
            </p:custDataLst>
          </p:nvPr>
        </p:nvSpPr>
        <p:spPr>
          <a:xfrm>
            <a:off x="1188720" y="157276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 reto en test automation</a:t>
            </a:r>
            <a:endParaRPr lang="en-US" sz="1000" dirty="0"/>
          </a:p>
        </p:txBody>
      </p:sp>
      <p:sp>
        <p:nvSpPr>
          <p:cNvPr id="7" name="Shape 5"/>
          <p:cNvSpPr/>
          <p:nvPr>
            <p:custDataLst>
              <p:tags r:id="rId5"/>
            </p:custDataLst>
          </p:nvPr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8" name="Text 6"/>
          <p:cNvSpPr/>
          <p:nvPr>
            <p:custDataLst>
              <p:tags r:id="rId6"/>
            </p:custDataLst>
          </p:nvPr>
        </p:nvSpPr>
        <p:spPr>
          <a:xfrm>
            <a:off x="640080" y="18745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>
            <p:custDataLst>
              <p:tags r:id="rId7"/>
            </p:custDataLst>
          </p:nvPr>
        </p:nvSpPr>
        <p:spPr>
          <a:xfrm>
            <a:off x="1188720" y="185623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Solución: gTAA AI Validator</a:t>
            </a:r>
            <a:endParaRPr lang="en-US" sz="1400" dirty="0"/>
          </a:p>
        </p:txBody>
      </p:sp>
      <p:sp>
        <p:nvSpPr>
          <p:cNvPr id="10" name="Text 8"/>
          <p:cNvSpPr/>
          <p:nvPr>
            <p:custDataLst>
              <p:tags r:id="rId8"/>
            </p:custDataLst>
          </p:nvPr>
        </p:nvSpPr>
        <p:spPr>
          <a:xfrm>
            <a:off x="1188720" y="207568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Sistema híbrido de análisis</a:t>
            </a:r>
            <a:endParaRPr lang="en-US" sz="1000" dirty="0"/>
          </a:p>
        </p:txBody>
      </p:sp>
      <p:sp>
        <p:nvSpPr>
          <p:cNvPr id="11" name="Shape 9"/>
          <p:cNvSpPr/>
          <p:nvPr>
            <p:custDataLst>
              <p:tags r:id="rId9"/>
            </p:custDataLst>
          </p:nvPr>
        </p:nvSpPr>
        <p:spPr>
          <a:xfrm>
            <a:off x="640080" y="2377440"/>
            <a:ext cx="365760" cy="36576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12" name="Text 10"/>
          <p:cNvSpPr/>
          <p:nvPr>
            <p:custDataLst>
              <p:tags r:id="rId10"/>
            </p:custDataLst>
          </p:nvPr>
        </p:nvSpPr>
        <p:spPr>
          <a:xfrm>
            <a:off x="640080" y="2377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Text 11"/>
          <p:cNvSpPr/>
          <p:nvPr>
            <p:custDataLst>
              <p:tags r:id="rId11"/>
            </p:custDataLst>
          </p:nvPr>
        </p:nvSpPr>
        <p:spPr>
          <a:xfrm>
            <a:off x="1188720" y="235915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Arquitectura y Stack Tecnológico</a:t>
            </a:r>
            <a:endParaRPr lang="en-US" sz="1400" dirty="0"/>
          </a:p>
        </p:txBody>
      </p:sp>
      <p:sp>
        <p:nvSpPr>
          <p:cNvPr id="14" name="Text 12"/>
          <p:cNvSpPr/>
          <p:nvPr>
            <p:custDataLst>
              <p:tags r:id="rId12"/>
            </p:custDataLst>
          </p:nvPr>
        </p:nvSpPr>
        <p:spPr>
          <a:xfrm>
            <a:off x="1188720" y="257860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Componentes y tecnologías</a:t>
            </a:r>
            <a:endParaRPr lang="en-US" sz="1000" dirty="0"/>
          </a:p>
        </p:txBody>
      </p:sp>
      <p:sp>
        <p:nvSpPr>
          <p:cNvPr id="15" name="Shape 13"/>
          <p:cNvSpPr/>
          <p:nvPr>
            <p:custDataLst>
              <p:tags r:id="rId13"/>
            </p:custDataLst>
          </p:nvPr>
        </p:nvSpPr>
        <p:spPr>
          <a:xfrm>
            <a:off x="640080" y="2880360"/>
            <a:ext cx="365760" cy="36576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16" name="Text 14"/>
          <p:cNvSpPr/>
          <p:nvPr>
            <p:custDataLst>
              <p:tags r:id="rId14"/>
            </p:custDataLst>
          </p:nvPr>
        </p:nvSpPr>
        <p:spPr>
          <a:xfrm>
            <a:off x="640080" y="288036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17" name="Text 15"/>
          <p:cNvSpPr/>
          <p:nvPr>
            <p:custDataLst>
              <p:tags r:id="rId15"/>
            </p:custDataLst>
          </p:nvPr>
        </p:nvSpPr>
        <p:spPr>
          <a:xfrm>
            <a:off x="1188720" y="28620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Funcionalidades Principales</a:t>
            </a:r>
            <a:endParaRPr lang="en-US" sz="1400" dirty="0"/>
          </a:p>
        </p:txBody>
      </p:sp>
      <p:sp>
        <p:nvSpPr>
          <p:cNvPr id="18" name="Text 16"/>
          <p:cNvSpPr/>
          <p:nvPr>
            <p:custDataLst>
              <p:tags r:id="rId16"/>
            </p:custDataLst>
          </p:nvPr>
        </p:nvSpPr>
        <p:spPr>
          <a:xfrm>
            <a:off x="1188720" y="308152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 violaciones, 4 lenguajes, reportes</a:t>
            </a:r>
            <a:endParaRPr lang="en-US" sz="1000" dirty="0"/>
          </a:p>
        </p:txBody>
      </p:sp>
      <p:sp>
        <p:nvSpPr>
          <p:cNvPr id="19" name="Shape 17"/>
          <p:cNvSpPr/>
          <p:nvPr>
            <p:custDataLst>
              <p:tags r:id="rId17"/>
            </p:custDataLst>
          </p:nvPr>
        </p:nvSpPr>
        <p:spPr>
          <a:xfrm>
            <a:off x="640080" y="3383280"/>
            <a:ext cx="365760" cy="36576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20" name="Text 18"/>
          <p:cNvSpPr/>
          <p:nvPr>
            <p:custDataLst>
              <p:tags r:id="rId18"/>
            </p:custDataLst>
          </p:nvPr>
        </p:nvSpPr>
        <p:spPr>
          <a:xfrm>
            <a:off x="640080" y="33832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1100" dirty="0"/>
          </a:p>
        </p:txBody>
      </p:sp>
      <p:sp>
        <p:nvSpPr>
          <p:cNvPr id="21" name="Text 19"/>
          <p:cNvSpPr/>
          <p:nvPr>
            <p:custDataLst>
              <p:tags r:id="rId19"/>
            </p:custDataLst>
          </p:nvPr>
        </p:nvSpPr>
        <p:spPr>
          <a:xfrm>
            <a:off x="1188720" y="336499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Metodología y Calidad</a:t>
            </a:r>
            <a:endParaRPr lang="en-US" sz="1400" dirty="0"/>
          </a:p>
        </p:txBody>
      </p:sp>
      <p:sp>
        <p:nvSpPr>
          <p:cNvPr id="22" name="Text 20"/>
          <p:cNvSpPr/>
          <p:nvPr>
            <p:custDataLst>
              <p:tags r:id="rId20"/>
            </p:custDataLst>
          </p:nvPr>
        </p:nvSpPr>
        <p:spPr>
          <a:xfrm>
            <a:off x="1188720" y="358444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fases, 761 tests, 93% cobertura</a:t>
            </a:r>
            <a:endParaRPr lang="en-US" sz="1000" dirty="0"/>
          </a:p>
        </p:txBody>
      </p:sp>
      <p:sp>
        <p:nvSpPr>
          <p:cNvPr id="23" name="Shape 21"/>
          <p:cNvSpPr/>
          <p:nvPr>
            <p:custDataLst>
              <p:tags r:id="rId21"/>
            </p:custDataLst>
          </p:nvPr>
        </p:nvSpPr>
        <p:spPr>
          <a:xfrm>
            <a:off x="640080" y="3886200"/>
            <a:ext cx="365760" cy="36576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24" name="Text 22"/>
          <p:cNvSpPr/>
          <p:nvPr>
            <p:custDataLst>
              <p:tags r:id="rId22"/>
            </p:custDataLst>
          </p:nvPr>
        </p:nvSpPr>
        <p:spPr>
          <a:xfrm>
            <a:off x="640080" y="388620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1100" dirty="0"/>
          </a:p>
        </p:txBody>
      </p:sp>
      <p:sp>
        <p:nvSpPr>
          <p:cNvPr id="25" name="Text 23"/>
          <p:cNvSpPr/>
          <p:nvPr>
            <p:custDataLst>
              <p:tags r:id="rId23"/>
            </p:custDataLst>
          </p:nvPr>
        </p:nvSpPr>
        <p:spPr>
          <a:xfrm>
            <a:off x="1188720" y="38679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Despliegue y CI/CD</a:t>
            </a:r>
            <a:endParaRPr lang="en-US" sz="1400" dirty="0"/>
          </a:p>
        </p:txBody>
      </p:sp>
      <p:sp>
        <p:nvSpPr>
          <p:cNvPr id="26" name="Text 24"/>
          <p:cNvSpPr/>
          <p:nvPr>
            <p:custDataLst>
              <p:tags r:id="rId24"/>
            </p:custDataLst>
          </p:nvPr>
        </p:nvSpPr>
        <p:spPr>
          <a:xfrm>
            <a:off x="1188720" y="408736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Docker, GitHub Actions</a:t>
            </a:r>
            <a:endParaRPr lang="en-US" sz="1000" dirty="0"/>
          </a:p>
        </p:txBody>
      </p:sp>
      <p:sp>
        <p:nvSpPr>
          <p:cNvPr id="27" name="Shape 25"/>
          <p:cNvSpPr/>
          <p:nvPr>
            <p:custDataLst>
              <p:tags r:id="rId25"/>
            </p:custDataLst>
          </p:nvPr>
        </p:nvSpPr>
        <p:spPr>
          <a:xfrm>
            <a:off x="640080" y="4389120"/>
            <a:ext cx="365760" cy="36576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28" name="Text 26"/>
          <p:cNvSpPr/>
          <p:nvPr>
            <p:custDataLst>
              <p:tags r:id="rId26"/>
            </p:custDataLst>
          </p:nvPr>
        </p:nvSpPr>
        <p:spPr>
          <a:xfrm>
            <a:off x="640080" y="438912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endParaRPr lang="en-US" sz="1100" dirty="0"/>
          </a:p>
        </p:txBody>
      </p:sp>
      <p:sp>
        <p:nvSpPr>
          <p:cNvPr id="29" name="Text 27"/>
          <p:cNvSpPr/>
          <p:nvPr>
            <p:custDataLst>
              <p:tags r:id="rId27"/>
            </p:custDataLst>
          </p:nvPr>
        </p:nvSpPr>
        <p:spPr>
          <a:xfrm>
            <a:off x="1188720" y="437083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30" name="Text 28"/>
          <p:cNvSpPr/>
          <p:nvPr>
            <p:custDataLst>
              <p:tags r:id="rId28"/>
            </p:custDataLst>
          </p:nvPr>
        </p:nvSpPr>
        <p:spPr>
          <a:xfrm>
            <a:off x="1188720" y="4590288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Resultados y trabajo futuro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1371600"/>
            <a:ext cx="2926080" cy="3200400"/>
          </a:xfrm>
          <a:prstGeom prst="rect">
            <a:avLst/>
          </a:prstGeom>
          <a:solidFill>
            <a:srgbClr val="0F2B46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949440" y="1737360"/>
            <a:ext cx="731520" cy="73152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6126480" y="256032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gTAA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126480" y="3017520"/>
            <a:ext cx="25603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Generic Test</a:t>
            </a:r>
            <a:endParaRPr lang="en-US" sz="12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Automation</a:t>
            </a:r>
            <a:endParaRPr lang="en-US" sz="12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126480" y="402336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ISTQB CT-TAE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 ausencia de arquitectura en test automation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749040" cy="12801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54864" cy="1280160"/>
          </a:xfrm>
          <a:prstGeom prst="rect">
            <a:avLst/>
          </a:prstGeom>
          <a:solidFill>
            <a:srgbClr val="EF4444"/>
          </a:solidFill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830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69164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Código acoplado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201168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Tests interactúan directamente con Selenium/Playwright sin capa de abstracción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0" y="1554480"/>
            <a:ext cx="3749040" cy="12801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554480"/>
            <a:ext cx="54864" cy="1280160"/>
          </a:xfrm>
          <a:prstGeom prst="rect">
            <a:avLst/>
          </a:prstGeom>
          <a:solidFill>
            <a:srgbClr val="EF4444"/>
          </a:solidFill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69164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Page Objects contaminados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532120" y="201168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Aserciones, lógica de negocio e imports de frameworks de test en POM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0080" y="3108960"/>
            <a:ext cx="3749040" cy="12801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080" y="3108960"/>
            <a:ext cx="54864" cy="1280160"/>
          </a:xfrm>
          <a:prstGeom prst="rect">
            <a:avLst/>
          </a:prstGeom>
          <a:solidFill>
            <a:srgbClr val="EF4444"/>
          </a:solidFill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33756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2461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Datos hardcodeados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417320" y="356616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Credenciales, URLs y datos de prueba directamente en los scripts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54880" y="3108960"/>
            <a:ext cx="3749040" cy="12801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108960"/>
            <a:ext cx="54864" cy="1280160"/>
          </a:xfrm>
          <a:prstGeom prst="rect">
            <a:avLst/>
          </a:prstGeom>
          <a:solidFill>
            <a:srgbClr val="EF4444"/>
          </a:solidFill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337560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3246120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Sin estructura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532120" y="3566160"/>
            <a:ext cx="26517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Tests con nombres genéricos, funciones de cientos de líneas, localizadores duplicados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40080" y="4572000"/>
            <a:ext cx="7863840" cy="411480"/>
          </a:xfrm>
          <a:prstGeom prst="rect">
            <a:avLst/>
          </a:prstGeom>
          <a:solidFill>
            <a:srgbClr val="0F2B46"/>
          </a:solidFill>
        </p:spPr>
      </p:sp>
      <p:sp>
        <p:nvSpPr>
          <p:cNvPr id="25" name="Text 19"/>
          <p:cNvSpPr/>
          <p:nvPr/>
        </p:nvSpPr>
        <p:spPr>
          <a:xfrm>
            <a:off x="822960" y="4572000"/>
            <a:ext cx="7498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existe ninguna herramienta que valide automáticamente si un proyecto cumple con gTAA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0A4D68">
              <a:alpha val="6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64008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La Solución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Sistema híbrido de análisis estático + semántico con 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3749040" cy="3017520"/>
          </a:xfrm>
          <a:prstGeom prst="rect">
            <a:avLst/>
          </a:prstGeom>
          <a:solidFill>
            <a:srgbClr val="0A4D68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17830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42316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Análisis Estático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288036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AST (Abstract Syntax Tree)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Pattern matching con Regex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tree-sitter (multilenguaje)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 tipos de violaciones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checkers especializados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554480"/>
            <a:ext cx="3749040" cy="3017520"/>
          </a:xfrm>
          <a:prstGeom prst="rect">
            <a:avLst/>
          </a:prstGeom>
          <a:solidFill>
            <a:srgbClr val="088395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37760" y="242316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Análisis Semántico IA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5212080" y="288036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Google Gemini Flash API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Prompt engineering optimizado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Fallback automático a mock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 tipos de violaciones semánticas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Sugerencias contextuales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286000" y="4709160"/>
            <a:ext cx="4572000" cy="32004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4" name="Text 10"/>
          <p:cNvSpPr/>
          <p:nvPr/>
        </p:nvSpPr>
        <p:spPr>
          <a:xfrm>
            <a:off x="2286000" y="47091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 violaciones detectadas  =  17 estáticas + 6 semánticas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Arquitectura gTAA (ISTQB CT-TAE)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4572000" cy="685800"/>
          </a:xfrm>
          <a:prstGeom prst="rect">
            <a:avLst/>
          </a:prstGeom>
          <a:solidFill>
            <a:srgbClr val="05BFDB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07899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Generation Layer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39903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A4D6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Diseño de casos de test (manual o automatizado)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4572000" cy="685800"/>
          </a:xfrm>
          <a:prstGeom prst="rect">
            <a:avLst/>
          </a:prstGeom>
          <a:solidFill>
            <a:srgbClr val="088395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90195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Definition Layer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2199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Tests, suites, datos de prueba, test library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4572000" cy="685800"/>
          </a:xfrm>
          <a:prstGeom prst="rect">
            <a:avLst/>
          </a:prstGeom>
          <a:solidFill>
            <a:srgbClr val="0A4D68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272491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Execution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044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Runner, fixtures, setup/teardown, logging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4572000" cy="685800"/>
          </a:xfrm>
          <a:prstGeom prst="rect">
            <a:avLst/>
          </a:prstGeom>
          <a:solidFill>
            <a:srgbClr val="0F2B46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2960" y="3547872"/>
            <a:ext cx="42062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Adaptation Layer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86791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Page Objects, APIs, adaptadores al SUT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51760" y="169164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51760" y="2514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333756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371600" y="4389120"/>
            <a:ext cx="2926080" cy="411480"/>
          </a:xfrm>
          <a:prstGeom prst="rect">
            <a:avLst/>
          </a:prstGeom>
          <a:solidFill>
            <a:srgbClr val="E2E8F0"/>
          </a:solidFill>
        </p:spPr>
      </p:sp>
      <p:sp>
        <p:nvSpPr>
          <p:cNvPr id="19" name="Text 17"/>
          <p:cNvSpPr/>
          <p:nvPr/>
        </p:nvSpPr>
        <p:spPr>
          <a:xfrm>
            <a:off x="1371600" y="438912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SUT (System Under Test)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51760" y="416052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0" y="1051560"/>
            <a:ext cx="3200400" cy="3154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280160"/>
            <a:ext cx="457200" cy="4572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852160" y="182880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Principio Fundamental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943600" y="2240280"/>
            <a:ext cx="2651760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Cada capa tiene una responsabilidad única. Los tests no deben interactuar con el navegador. Los Page Objects no deben contener aserciones ni lógica de negocio.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Stack Tecnológico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2331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41732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3.10+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371600" y="173736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Lenguaje principal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46120" y="1280160"/>
            <a:ext cx="2331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5087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977640" y="141732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AST + tree-sitter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977640" y="173736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Análisis de código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852160" y="1280160"/>
            <a:ext cx="2331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0876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583680" y="141732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Gemini Flash API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583680" y="173736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LLM para semántica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40080" y="2560320"/>
            <a:ext cx="2331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78892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269748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Click CLI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371600" y="301752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Interfaz de línea de comandos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3246120" y="2560320"/>
            <a:ext cx="2331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788920"/>
            <a:ext cx="411480" cy="4114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977640" y="269748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Docker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3977640" y="301752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Contenerización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5852160" y="2560320"/>
            <a:ext cx="2331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788920"/>
            <a:ext cx="411480" cy="41148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583680" y="269748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6583680" y="3017520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CI/CD pipeline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640080" y="3794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Librerías clave</a:t>
            </a:r>
            <a:endParaRPr lang="en-US" sz="1600" dirty="0"/>
          </a:p>
        </p:txBody>
      </p:sp>
      <p:sp>
        <p:nvSpPr>
          <p:cNvPr id="28" name="Shape 20"/>
          <p:cNvSpPr/>
          <p:nvPr/>
        </p:nvSpPr>
        <p:spPr>
          <a:xfrm>
            <a:off x="640080" y="4160520"/>
            <a:ext cx="786384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1"/>
          <p:cNvSpPr/>
          <p:nvPr/>
        </p:nvSpPr>
        <p:spPr>
          <a:xfrm>
            <a:off x="822960" y="420624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click &gt;= 8.0 (CLI)</a:t>
            </a:r>
            <a:endParaRPr lang="en-US" sz="1000" dirty="0"/>
          </a:p>
        </p:txBody>
      </p:sp>
      <p:sp>
        <p:nvSpPr>
          <p:cNvPr id="30" name="Text 22"/>
          <p:cNvSpPr/>
          <p:nvPr/>
        </p:nvSpPr>
        <p:spPr>
          <a:xfrm>
            <a:off x="3429000" y="420624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google-genai &gt;= 1.0 (SDK Gemini)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6035040" y="420624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tree-sitter-language-pack (Java, JS/TS)</a:t>
            </a:r>
            <a:endParaRPr lang="en-US" sz="1000" dirty="0"/>
          </a:p>
        </p:txBody>
      </p:sp>
      <p:sp>
        <p:nvSpPr>
          <p:cNvPr id="32" name="Text 24"/>
          <p:cNvSpPr/>
          <p:nvPr/>
        </p:nvSpPr>
        <p:spPr>
          <a:xfrm>
            <a:off x="822960" y="45537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tree-sitter-c-sharp (C#)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3429000" y="45537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PyYAML &gt;= 6.0 (Configuración)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6035040" y="45537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pytest &gt;= 7.0 (Testing)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23 Tipos de Violaciones gTAA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1874520" cy="822960"/>
          </a:xfrm>
          <a:prstGeom prst="rect">
            <a:avLst/>
          </a:prstGeom>
          <a:solidFill>
            <a:srgbClr val="088395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7315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25880" y="1005840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Checkers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88920" y="1005840"/>
            <a:ext cx="1874520" cy="822960"/>
          </a:xfrm>
          <a:prstGeom prst="rect">
            <a:avLst/>
          </a:prstGeom>
          <a:solidFill>
            <a:srgbClr val="0A4D68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88920" y="1005840"/>
            <a:ext cx="7315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474720" y="1005840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Estaticas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37760" y="1005840"/>
            <a:ext cx="1874520" cy="822960"/>
          </a:xfrm>
          <a:prstGeom prst="rect">
            <a:avLst/>
          </a:prstGeom>
          <a:solidFill>
            <a:srgbClr val="0F2B46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005840"/>
            <a:ext cx="7315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6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623560" y="1005840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Semanticas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86600" y="1005840"/>
            <a:ext cx="1874520" cy="822960"/>
          </a:xfrm>
          <a:prstGeom prst="rect">
            <a:avLst/>
          </a:prstGeom>
          <a:solidFill>
            <a:srgbClr val="F59E0B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86600" y="1005840"/>
            <a:ext cx="7315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7772400" y="1005840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457200" y="2011680"/>
          <a:ext cx="8229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2926080"/>
                <a:gridCol w="2103120"/>
                <a:gridCol w="1463040"/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Severidad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Tipo de Violación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Checker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Técnica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CRITICA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ADAPTATION_IN_DEFINITION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DefinitionChecker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AST Visitor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CRITICA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MISSING_LAYER_STRUCTURE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StructureChecker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Filesystem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CRITICA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AC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STEP_DEF_DIRECT_BROWSER_CALL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BDDChecker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AST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9770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ALTA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HARDCODED_TEST_DATA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QualityChecker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AST + Regex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9770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ALTA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ASSERTION_IN_POM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AdaptationChecker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AST Visitor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D9770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ALTA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IMPLICIT_TEST_DEPENDENCY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LLM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Gemini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MEDIA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BUSINESS_LOGIC_IN_POM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AdaptationChecker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AST Visitor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MEDIA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MISSING_AAA_STRUCTURE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LLM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Gemini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2563E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MEDIA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MIXED_ABSTRACTION_LEVEL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LLM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Gemini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0B98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BAJA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POOR_TEST_NAMING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QualityChecker</a:t>
                      </a:r>
                      <a:endParaRPr lang="en-US" sz="8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Consolas" panose="020B0609020204030204" pitchFamily="34" charset="0"/>
                          <a:ea typeface="Consolas" panose="020B0609020204030204" pitchFamily="34" charset="-122"/>
                          <a:cs typeface="Consolas" panose="020B0609020204030204" pitchFamily="34" charset="-120"/>
                        </a:rPr>
                        <a:t>AST + Regex</a:t>
                      </a:r>
                      <a:endParaRPr lang="en-US" sz="800" dirty="0">
                        <a:latin typeface="Consolas" panose="020B0609020204030204" pitchFamily="34" charset="0"/>
                        <a:ea typeface="Consolas" panose="020B0609020204030204" pitchFamily="34" charset="0"/>
                        <a:cs typeface="Consolas" panose="020B0609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" y="47548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+ 13 tipos adicionales  (ver documentación completa)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Soporte Multilenguaje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Arquitectura language-agnostic con ParseResult unificado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2377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459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19456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Python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26060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Parser: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0080" y="278892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8395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ast (stdlib)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40080" y="30632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Frameworks: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32461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Selenium, Playwright,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pytest, unittest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606040" y="1463040"/>
            <a:ext cx="1920240" cy="2377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45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697480" y="219456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Java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2788920" y="26060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Parser: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2788920" y="278892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8395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tree-sitter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2788920" y="30632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Frameworks: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2788920" y="32461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Selenium, Playwright,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TestNG, JUnit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754880" y="1463040"/>
            <a:ext cx="1920240" cy="2377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45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46320" y="219456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JS / TS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4937760" y="26060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Parser: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4937760" y="278892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8395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tree-sitter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37760" y="30632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Frameworks: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4937760" y="32461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Playwright, Cypress,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WebdriverIO, Jest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903720" y="1463040"/>
            <a:ext cx="1920240" cy="2377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459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6995160" y="219456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C#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7086600" y="26060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Parser: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7086600" y="278892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8395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tree-sitter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7086600" y="30632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Frameworks: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7086600" y="32461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Selenium, Playwright,</a:t>
            </a:r>
            <a:endParaRPr lang="en-US" sz="9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NUnit, xUnit, MSTest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640080" y="4114800"/>
            <a:ext cx="7863840" cy="777240"/>
          </a:xfrm>
          <a:prstGeom prst="rect">
            <a:avLst/>
          </a:prstGeom>
          <a:solidFill>
            <a:srgbClr val="0F2B46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51960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463040" y="4160520"/>
            <a:ext cx="67665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 mismo DefinitionChecker detecta driver.findElement() (Java), cy.get() (JS)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driver.FindElement() (C#) gracias a ParseResult como contrato común.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Reportes y Puntuación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931920" cy="25603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716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37160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Sistema de Puntuación (0-100)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822960" y="1920240"/>
          <a:ext cx="3474720" cy="137160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Severidad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Penalizacion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4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F4444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CRITICA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-10 pts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ALTA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-5 pts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563EB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MEDIA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-2 pts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BAJA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-1 pt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846320" y="1188720"/>
            <a:ext cx="3840480" cy="25603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365760" cy="3657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577840" y="13716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Formatos de Reporte</a:t>
            </a:r>
            <a:endParaRPr lang="en-US" sz="1400" dirty="0"/>
          </a:p>
        </p:txBody>
      </p:sp>
      <p:sp>
        <p:nvSpPr>
          <p:cNvPr id="6" name="Text 5"/>
          <p:cNvSpPr/>
          <p:nvPr/>
        </p:nvSpPr>
        <p:spPr>
          <a:xfrm>
            <a:off x="5120640" y="19202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839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HTML Dashboard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5120640" y="219456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Score gauge SVG, gráficos de distribución,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tablas agrupadas por checker, accesibilidad ARIA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5120640" y="27889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839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Estructurado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120640" y="30175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Formato compatible con CI/CD, metadata,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summary y violaciones detalladas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40080" y="3977640"/>
            <a:ext cx="8046720" cy="548640"/>
          </a:xfrm>
          <a:prstGeom prst="rect">
            <a:avLst/>
          </a:prstGeom>
          <a:solidFill>
            <a:srgbClr val="0F2B46"/>
          </a:solidFill>
        </p:spPr>
      </p:sp>
      <p:sp>
        <p:nvSpPr>
          <p:cNvPr id="15" name="Text 10"/>
          <p:cNvSpPr/>
          <p:nvPr/>
        </p:nvSpPr>
        <p:spPr>
          <a:xfrm>
            <a:off x="822960" y="397764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5BFD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Auto-generación estilo Allure: gtaa-reports/gtaa_report_{proyecto}_{fecha}.json/.html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Metodología: Desarrollo Incremental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fases de desarrollo  |  1</a:t>
            </a:r>
            <a:r>
              <a:rPr lang="es-ES" alt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commits  |  60 ADRs documentados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50876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6" name="Text 4"/>
          <p:cNvSpPr/>
          <p:nvPr/>
        </p:nvSpPr>
        <p:spPr>
          <a:xfrm>
            <a:off x="960120" y="1508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 básico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26/01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137160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51760" y="150876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11" name="Text 9"/>
          <p:cNvSpPr/>
          <p:nvPr/>
        </p:nvSpPr>
        <p:spPr>
          <a:xfrm>
            <a:off x="2651760" y="1508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40280" y="205740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AST (1 violación)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40280" y="239572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26/01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40480" y="137160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0876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16" name="Text 14"/>
          <p:cNvSpPr/>
          <p:nvPr/>
        </p:nvSpPr>
        <p:spPr>
          <a:xfrm>
            <a:off x="4343400" y="1508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31920" y="205740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 violaciones + Tests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931920" y="239572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28/01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32120" y="137160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50876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21" name="Text 19"/>
          <p:cNvSpPr/>
          <p:nvPr/>
        </p:nvSpPr>
        <p:spPr>
          <a:xfrm>
            <a:off x="6035040" y="1508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623560" y="205740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Reportes HTML/JSON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23560" y="239572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31/01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23760" y="137160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26680" y="150876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26" name="Text 24"/>
          <p:cNvSpPr/>
          <p:nvPr/>
        </p:nvSpPr>
        <p:spPr>
          <a:xfrm>
            <a:off x="7726680" y="1508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0" y="205740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Análisis AI (Gemini)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0" y="239572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01/02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0120" y="324612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31" name="Text 29"/>
          <p:cNvSpPr/>
          <p:nvPr/>
        </p:nvSpPr>
        <p:spPr>
          <a:xfrm>
            <a:off x="960120" y="3246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379476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 violaciones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413308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01/02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148840" y="310896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2651760" y="324612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36" name="Text 34"/>
          <p:cNvSpPr/>
          <p:nvPr/>
        </p:nvSpPr>
        <p:spPr>
          <a:xfrm>
            <a:off x="2651760" y="3246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240280" y="379476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Proyectos mixtos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40280" y="413308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02/02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840480" y="310896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343400" y="324612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41" name="Text 39"/>
          <p:cNvSpPr/>
          <p:nvPr/>
        </p:nvSpPr>
        <p:spPr>
          <a:xfrm>
            <a:off x="4343400" y="3246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931920" y="379476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Soporte BDD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931920" y="413308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03/02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32120" y="310896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35040" y="3246120"/>
            <a:ext cx="457200" cy="457200"/>
          </a:xfrm>
          <a:prstGeom prst="ellipse">
            <a:avLst/>
          </a:prstGeom>
          <a:solidFill>
            <a:srgbClr val="088395"/>
          </a:solidFill>
        </p:spPr>
      </p:sp>
      <p:sp>
        <p:nvSpPr>
          <p:cNvPr id="46" name="Text 44"/>
          <p:cNvSpPr/>
          <p:nvPr/>
        </p:nvSpPr>
        <p:spPr>
          <a:xfrm>
            <a:off x="6035040" y="3246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623560" y="379476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Multilenguaje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623560" y="413308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04/02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223760" y="3108960"/>
            <a:ext cx="150876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726680" y="3246120"/>
            <a:ext cx="457200" cy="45720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51" name="Text 49"/>
          <p:cNvSpPr/>
          <p:nvPr/>
        </p:nvSpPr>
        <p:spPr>
          <a:xfrm>
            <a:off x="7726680" y="32461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7315200" y="3794760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Optimización final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315200" y="4133088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05-08/02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0A4D68">
              <a:alpha val="6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Testing y Calidad</a:t>
            </a:r>
            <a:endParaRPr lang="en-US" sz="3600" dirty="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640080" y="1280160"/>
            <a:ext cx="2560320" cy="1645920"/>
          </a:xfrm>
          <a:prstGeom prst="rect">
            <a:avLst/>
          </a:prstGeom>
          <a:solidFill>
            <a:srgbClr val="0A4D68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>
            <p:custDataLst>
              <p:tags r:id="rId2"/>
            </p:custDataLst>
          </p:nvPr>
        </p:nvSpPr>
        <p:spPr>
          <a:xfrm>
            <a:off x="640080" y="137160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5BFD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761</a:t>
            </a:r>
            <a:endParaRPr lang="en-US" sz="4000" dirty="0"/>
          </a:p>
        </p:txBody>
      </p:sp>
      <p:sp>
        <p:nvSpPr>
          <p:cNvPr id="6" name="Text 4"/>
          <p:cNvSpPr/>
          <p:nvPr>
            <p:custDataLst>
              <p:tags r:id="rId3"/>
            </p:custDataLst>
          </p:nvPr>
        </p:nvSpPr>
        <p:spPr>
          <a:xfrm>
            <a:off x="640080" y="210312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Tests</a:t>
            </a:r>
            <a:endParaRPr lang="en-US" sz="1400" dirty="0"/>
          </a:p>
        </p:txBody>
      </p:sp>
      <p:sp>
        <p:nvSpPr>
          <p:cNvPr id="7" name="Text 5"/>
          <p:cNvSpPr/>
          <p:nvPr>
            <p:custDataLst>
              <p:tags r:id="rId4"/>
            </p:custDataLst>
          </p:nvPr>
        </p:nvSpPr>
        <p:spPr>
          <a:xfrm>
            <a:off x="640080" y="242316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Unitarios + Integración + Seguridad</a:t>
            </a:r>
            <a:endParaRPr lang="en-US" sz="1000" dirty="0"/>
          </a:p>
        </p:txBody>
      </p:sp>
      <p:sp>
        <p:nvSpPr>
          <p:cNvPr id="8" name="Shape 6"/>
          <p:cNvSpPr/>
          <p:nvPr>
            <p:custDataLst>
              <p:tags r:id="rId5"/>
            </p:custDataLst>
          </p:nvPr>
        </p:nvSpPr>
        <p:spPr>
          <a:xfrm>
            <a:off x="3474720" y="1280160"/>
            <a:ext cx="2560320" cy="1645920"/>
          </a:xfrm>
          <a:prstGeom prst="rect">
            <a:avLst/>
          </a:prstGeom>
          <a:solidFill>
            <a:srgbClr val="0A4D68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>
            <p:custDataLst>
              <p:tags r:id="rId6"/>
            </p:custDataLst>
          </p:nvPr>
        </p:nvSpPr>
        <p:spPr>
          <a:xfrm>
            <a:off x="3474720" y="137160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5BFD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93%</a:t>
            </a:r>
            <a:endParaRPr lang="en-US" sz="4000" dirty="0"/>
          </a:p>
        </p:txBody>
      </p:sp>
      <p:sp>
        <p:nvSpPr>
          <p:cNvPr id="10" name="Text 8"/>
          <p:cNvSpPr/>
          <p:nvPr>
            <p:custDataLst>
              <p:tags r:id="rId7"/>
            </p:custDataLst>
          </p:nvPr>
        </p:nvSpPr>
        <p:spPr>
          <a:xfrm>
            <a:off x="3474720" y="210312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Cobertura</a:t>
            </a:r>
            <a:endParaRPr lang="en-US" sz="1400" dirty="0"/>
          </a:p>
        </p:txBody>
      </p:sp>
      <p:sp>
        <p:nvSpPr>
          <p:cNvPr id="11" name="Text 9"/>
          <p:cNvSpPr/>
          <p:nvPr>
            <p:custDataLst>
              <p:tags r:id="rId8"/>
            </p:custDataLst>
          </p:nvPr>
        </p:nvSpPr>
        <p:spPr>
          <a:xfrm>
            <a:off x="3474720" y="242316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Objetivo 90% superado</a:t>
            </a:r>
            <a:endParaRPr lang="en-US" sz="1000" dirty="0"/>
          </a:p>
        </p:txBody>
      </p:sp>
      <p:sp>
        <p:nvSpPr>
          <p:cNvPr id="12" name="Shape 10"/>
          <p:cNvSpPr/>
          <p:nvPr>
            <p:custDataLst>
              <p:tags r:id="rId9"/>
            </p:custDataLst>
          </p:nvPr>
        </p:nvSpPr>
        <p:spPr>
          <a:xfrm>
            <a:off x="6309360" y="1280160"/>
            <a:ext cx="2560320" cy="1645920"/>
          </a:xfrm>
          <a:prstGeom prst="rect">
            <a:avLst/>
          </a:prstGeom>
          <a:solidFill>
            <a:srgbClr val="0A4D68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>
            <p:custDataLst>
              <p:tags r:id="rId10"/>
            </p:custDataLst>
          </p:nvPr>
        </p:nvSpPr>
        <p:spPr>
          <a:xfrm>
            <a:off x="6309360" y="137160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altLang="en-US" sz="4000" b="1" dirty="0">
                <a:solidFill>
                  <a:srgbClr val="05BFD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46</a:t>
            </a:r>
            <a:endParaRPr lang="en-US" sz="4000" dirty="0"/>
          </a:p>
        </p:txBody>
      </p:sp>
      <p:sp>
        <p:nvSpPr>
          <p:cNvPr id="14" name="Text 12"/>
          <p:cNvSpPr/>
          <p:nvPr>
            <p:custDataLst>
              <p:tags r:id="rId11"/>
            </p:custDataLst>
          </p:nvPr>
        </p:nvSpPr>
        <p:spPr>
          <a:xfrm>
            <a:off x="6309360" y="210312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Tests de Seguridad</a:t>
            </a:r>
            <a:endParaRPr lang="en-US" sz="1400" dirty="0"/>
          </a:p>
        </p:txBody>
      </p:sp>
      <p:sp>
        <p:nvSpPr>
          <p:cNvPr id="15" name="Text 13"/>
          <p:cNvSpPr/>
          <p:nvPr>
            <p:custDataLst>
              <p:tags r:id="rId12"/>
            </p:custDataLst>
          </p:nvPr>
        </p:nvSpPr>
        <p:spPr>
          <a:xfrm>
            <a:off x="6309360" y="242316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SEC-01 a SEC-09 (OWASP)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291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Prácticas de Calidad</a:t>
            </a:r>
            <a:endParaRPr lang="en-US" sz="16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3749040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960120" y="37490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Auditoría QA white-box completa</a:t>
            </a:r>
            <a:endParaRPr lang="en-US" sz="11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54880" y="3749040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074920" y="37490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Tests de regresión de seguridad (OWASP)</a:t>
            </a:r>
            <a:endParaRPr lang="en-US" sz="11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096512"/>
            <a:ext cx="201168" cy="20116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60120" y="409651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Protección XSS en reportes HTML</a:t>
            </a:r>
            <a:endParaRPr lang="en-US" sz="11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54880" y="4096512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074920" y="409651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 ADRs (Architecture Decision Records)</a:t>
            </a:r>
            <a:endParaRPr lang="en-US" sz="11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080" y="4443984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0120" y="444398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Auditoría de documentación (28 hallazgos)</a:t>
            </a:r>
            <a:endParaRPr lang="en-US" sz="11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54880" y="4443984"/>
            <a:ext cx="201168" cy="20116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074920" y="444398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CI con matrix Python 3.10/3.11/3.12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Despliegue y CI/CD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2926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173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20116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CLI Local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14600"/>
            <a:ext cx="182880" cy="1828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248716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 install -e '.[all]'</a:t>
            </a:r>
            <a:endParaRPr lang="en-US" sz="10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182880" cy="1828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289864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-m gtaa_validator ./proyecto</a:t>
            </a:r>
            <a:endParaRPr lang="en-US" sz="10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337560"/>
            <a:ext cx="182880" cy="1828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331012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Flags: --ai, --verbose, --html, --json</a:t>
            </a:r>
            <a:endParaRPr lang="en-US" sz="1000" dirty="0"/>
          </a:p>
        </p:txBody>
      </p:sp>
      <p:sp>
        <p:nvSpPr>
          <p:cNvPr id="12" name="Shape 6"/>
          <p:cNvSpPr/>
          <p:nvPr/>
        </p:nvSpPr>
        <p:spPr>
          <a:xfrm>
            <a:off x="3246120" y="1188720"/>
            <a:ext cx="2606040" cy="2926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17320"/>
            <a:ext cx="502920" cy="5029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383280" y="20116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Docker</a:t>
            </a:r>
            <a:endParaRPr lang="en-US" sz="160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514600"/>
            <a:ext cx="182880" cy="1828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3703320" y="248716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docker build -t gtaa-validator .</a:t>
            </a:r>
            <a:endParaRPr lang="en-US" sz="10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926080"/>
            <a:ext cx="182880" cy="18288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3703320" y="289864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Imagen multistage (~150MB)</a:t>
            </a:r>
            <a:endParaRPr lang="en-US" sz="10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3337560"/>
            <a:ext cx="182880" cy="18288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3703320" y="331012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docker run -v ./proyecto:/project</a:t>
            </a:r>
            <a:endParaRPr lang="en-US" sz="1000" dirty="0"/>
          </a:p>
        </p:txBody>
      </p:sp>
      <p:sp>
        <p:nvSpPr>
          <p:cNvPr id="21" name="Shape 11"/>
          <p:cNvSpPr/>
          <p:nvPr/>
        </p:nvSpPr>
        <p:spPr>
          <a:xfrm>
            <a:off x="6035040" y="1188720"/>
            <a:ext cx="2606040" cy="2926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417320"/>
            <a:ext cx="502920" cy="50292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172200" y="20116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GitHub Action</a:t>
            </a:r>
            <a:endParaRPr lang="en-US" sz="160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514600"/>
            <a:ext cx="182880" cy="18288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6492240" y="248716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uses: Membrive92/gtaa-ai-validator@main</a:t>
            </a:r>
            <a:endParaRPr lang="en-US" sz="100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926080"/>
            <a:ext cx="182880" cy="182880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6492240" y="289864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Composite action reutilizable</a:t>
            </a:r>
            <a:endParaRPr lang="en-US" sz="100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337560"/>
            <a:ext cx="182880" cy="182880"/>
          </a:xfrm>
          <a:prstGeom prst="rect">
            <a:avLst/>
          </a:prstGeom>
        </p:spPr>
      </p:pic>
      <p:sp>
        <p:nvSpPr>
          <p:cNvPr id="29" name="Text 15"/>
          <p:cNvSpPr/>
          <p:nvPr/>
        </p:nvSpPr>
        <p:spPr>
          <a:xfrm>
            <a:off x="6492240" y="3310128"/>
            <a:ext cx="1965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Outputs: score, violations, reportes</a:t>
            </a:r>
            <a:endParaRPr lang="en-US" sz="1000" dirty="0"/>
          </a:p>
        </p:txBody>
      </p:sp>
      <p:sp>
        <p:nvSpPr>
          <p:cNvPr id="30" name="Shape 16"/>
          <p:cNvSpPr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solidFill>
            <a:srgbClr val="0F2B46"/>
          </a:solidFill>
        </p:spPr>
      </p:sp>
      <p:sp>
        <p:nvSpPr>
          <p:cNvPr id="31" name="Text 17"/>
          <p:cNvSpPr/>
          <p:nvPr/>
        </p:nvSpPr>
        <p:spPr>
          <a:xfrm>
            <a:off x="640080" y="43434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5BFD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github.com/Membrive92/gtaa-ai-validator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Ejemplo de Ejecución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3840480"/>
          </a:xfrm>
          <a:prstGeom prst="rect">
            <a:avLst/>
          </a:prstGeom>
          <a:solidFill>
            <a:srgbClr val="1E1E1E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solidFill>
            <a:srgbClr val="333333"/>
          </a:solidFill>
        </p:spPr>
      </p:sp>
      <p:sp>
        <p:nvSpPr>
          <p:cNvPr id="5" name="Shape 3"/>
          <p:cNvSpPr/>
          <p:nvPr/>
        </p:nvSpPr>
        <p:spPr>
          <a:xfrm>
            <a:off x="868680" y="1188720"/>
            <a:ext cx="164592" cy="164592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6" name="Shape 4"/>
          <p:cNvSpPr/>
          <p:nvPr/>
        </p:nvSpPr>
        <p:spPr>
          <a:xfrm>
            <a:off x="1097280" y="1188720"/>
            <a:ext cx="164592" cy="164592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7" name="Shape 5"/>
          <p:cNvSpPr/>
          <p:nvPr/>
        </p:nvSpPr>
        <p:spPr>
          <a:xfrm>
            <a:off x="1325880" y="1188720"/>
            <a:ext cx="164592" cy="164592"/>
          </a:xfrm>
          <a:prstGeom prst="ellipse">
            <a:avLst/>
          </a:prstGeom>
          <a:solidFill>
            <a:srgbClr val="10B981"/>
          </a:solidFill>
        </p:spPr>
      </p:sp>
      <p:sp>
        <p:nvSpPr>
          <p:cNvPr id="8" name="Text 6"/>
          <p:cNvSpPr/>
          <p:nvPr/>
        </p:nvSpPr>
        <p:spPr>
          <a:xfrm>
            <a:off x="3200400" y="10972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9999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Terminal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1691640"/>
            <a:ext cx="7315200" cy="3108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$ python -m gtaa_validator examples/bad_project --ai --verbose
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5BFD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=== gTAA AI Validator ===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Analizando proyecto: examples/bad_project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Ejecutando análisis estático...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Usando Gemini Flash API para análisis semántico...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Archivos analizados: </a:t>
            </a:r>
            <a:r>
              <a:rPr lang="es-ES" alt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13</a:t>
            </a: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6B6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Violaciones totales: </a:t>
            </a:r>
            <a:r>
              <a:rPr lang="es-ES" altLang="en-US" sz="950" b="1" dirty="0">
                <a:solidFill>
                  <a:srgbClr val="FF6B6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70</a:t>
            </a:r>
            <a:r>
              <a:rPr lang="en-US" sz="950" b="1" dirty="0">
                <a:solidFill>
                  <a:srgbClr val="FF6B6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CRITICA: </a:t>
            </a:r>
            <a:r>
              <a:rPr lang="es-ES" alt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22</a:t>
            </a: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|  ALTA: </a:t>
            </a:r>
            <a:r>
              <a:rPr lang="es-ES" alt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32</a:t>
            </a: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|  MEDIA: </a:t>
            </a:r>
            <a:r>
              <a:rPr lang="es-ES" alt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13</a:t>
            </a: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|  BAJA: </a:t>
            </a:r>
            <a:r>
              <a:rPr lang="es-ES" alt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r>
              <a:rPr lang="en-US" sz="950" dirty="0">
                <a:solidFill>
                  <a:srgbClr val="CCCCC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
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6B6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Puntuación de cumplimiento: 0.0/100
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FF6B6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Estado: PROBLEMAS CRITICOS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B4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188720"/>
            <a:ext cx="54864" cy="594360"/>
          </a:xfrm>
          <a:prstGeom prst="rect">
            <a:avLst/>
          </a:prstGeom>
          <a:solidFill>
            <a:srgbClr val="088395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98448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207008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Primera herramienta de validación gTAA automática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417320" y="1481328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existía ninguna herramienta equivalente en el mercado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78638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1920240"/>
            <a:ext cx="54864" cy="594360"/>
          </a:xfrm>
          <a:prstGeom prst="rect">
            <a:avLst/>
          </a:prstGeom>
          <a:solidFill>
            <a:srgbClr val="088395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29968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938528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Sistema híbrido AST + LLM efectivo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417320" y="2212848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Combina precisión del análisis estático con comprensión semántica de la IA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2651760"/>
            <a:ext cx="78638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651760"/>
            <a:ext cx="54864" cy="594360"/>
          </a:xfrm>
          <a:prstGeom prst="rect">
            <a:avLst/>
          </a:prstGeom>
          <a:solidFill>
            <a:srgbClr val="088395"/>
          </a:solidFill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761488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2670048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Soporte multilenguaje real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417320" y="2944368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Python, Java, JS/TS, C# con arquitectura language-agnostic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78638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0080" y="3383280"/>
            <a:ext cx="54864" cy="594360"/>
          </a:xfrm>
          <a:prstGeom prst="rect">
            <a:avLst/>
          </a:prstGeom>
          <a:solidFill>
            <a:srgbClr val="088395"/>
          </a:solidFill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93008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401568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Calidad profesional demostrada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417320" y="3675888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761 tests, 93% cobertura, auditorías de seguridad y QA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40080" y="4114800"/>
            <a:ext cx="7863840" cy="5943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40080" y="4114800"/>
            <a:ext cx="54864" cy="594360"/>
          </a:xfrm>
          <a:prstGeom prst="rect">
            <a:avLst/>
          </a:prstGeom>
          <a:solidFill>
            <a:srgbClr val="088395"/>
          </a:solidFill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24528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133088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B4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Listo para producción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1417320" y="4407408"/>
            <a:ext cx="6858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CLI, Docker, GitHub Action, reportes HTML/JSON, CI/CD integrado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0A4D68">
              <a:alpha val="6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088395">
              <a:alpha val="70000"/>
            </a:srgbClr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731520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¡Gracias!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25400">
            <a:solidFill>
              <a:srgbClr val="05BF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José Antonio Membrive Guillén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5BFD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membri_2@hotmail.com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github.com/Membrive92/gtaa-ai-validator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4389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Máster de Desarrollo con IA  |  2025-2026  |  BIG School</a:t>
            </a:r>
            <a:endParaRPr lang="en-US" sz="11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3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4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5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6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7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8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9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0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1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2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3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4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5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6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7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8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19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0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1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2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3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4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5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6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7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8.xml><?xml version="1.0" encoding="utf-8"?>
<p:tagLst xmlns:p="http://schemas.openxmlformats.org/presentationml/2006/main">
  <p:tag name="KSO_WM_DIAGRAM_VIRTUALLY_FRAME" val="{&quot;height&quot;:270.72,&quot;left&quot;:50.4,&quot;top&quot;:106.55999999999999,&quot;width&quot;:403.2}"/>
</p:tagLst>
</file>

<file path=ppt/tags/tag29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0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1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2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3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4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5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6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7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8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39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ags/tag40.xml><?xml version="1.0" encoding="utf-8"?>
<p:tagLst xmlns:p="http://schemas.openxmlformats.org/presentationml/2006/main">
  <p:tag name="KSO_WM_DIAGRAM_VIRTUALLY_FRAME" val="{&quot;height&quot;:129.6,&quot;left&quot;:50.4,&quot;top&quot;:100.8,&quot;width&quot;:648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6282</Words>
  <Application>WPS Presentation</Application>
  <PresentationFormat>On-screen Show (16:9)</PresentationFormat>
  <Paragraphs>549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SimSun</vt:lpstr>
      <vt:lpstr>Wingdings</vt:lpstr>
      <vt:lpstr>Georgia</vt:lpstr>
      <vt:lpstr>Georgia</vt:lpstr>
      <vt:lpstr>Georgia</vt:lpstr>
      <vt:lpstr>Calibri</vt:lpstr>
      <vt:lpstr>Calibri</vt:lpstr>
      <vt:lpstr>Calibri</vt:lpstr>
      <vt:lpstr>Consolas</vt:lpstr>
      <vt:lpstr>Consolas</vt:lpstr>
      <vt:lpstr>Consolas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gTAA AI Validator - TFM</dc:title>
  <dc:creator>José Antonio Membrive Guillén</dc:creator>
  <dc:subject>PptxGenJS Presentation</dc:subject>
  <cp:lastModifiedBy>jose</cp:lastModifiedBy>
  <cp:revision>3</cp:revision>
  <dcterms:created xsi:type="dcterms:W3CDTF">2026-02-11T06:36:00Z</dcterms:created>
  <dcterms:modified xsi:type="dcterms:W3CDTF">2026-02-11T12:59:56Z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4A9C7874D73D4FB4ABF3E9D435FB8018_12</vt:lpwstr>
  </property>
  <property fmtid="{D5CDD505-2E9C-101B-9397-08002B2CF9AE}" pid="3" name="KSOProductBuildVer">
    <vt:lpwstr>3082-12.2.0.23196</vt:lpwstr>
  </property>
</Properties>
</file>